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b26c013c9544aa" /><Relationship Type="http://schemas.openxmlformats.org/officeDocument/2006/relationships/extended-properties" Target="/docProps/app.xml" Id="Rb193365d18f248c0" /><Relationship Type="http://schemas.openxmlformats.org/officeDocument/2006/relationships/officeDocument" Target="/ppt/presentation.xml" Id="R743377d478e84a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0db9e05e1f462b"/>
  </p:sldMasterIdLst>
  <p:notesMasterIdLst>
    <p:notesMasterId xmlns:r="http://schemas.openxmlformats.org/officeDocument/2006/relationships" r:id="R2ded50a73bca420b"/>
  </p:notesMasterIdLst>
  <p:sldIdLst>
    <p:sldId xmlns:r="http://schemas.openxmlformats.org/officeDocument/2006/relationships" id="256" r:id="R26773211f10f4290"/>
    <p:sldId xmlns:r="http://schemas.openxmlformats.org/officeDocument/2006/relationships" id="257" r:id="Rd2f0aff16b4a4475"/>
    <p:sldId xmlns:r="http://schemas.openxmlformats.org/officeDocument/2006/relationships" id="258" r:id="Rbd697455aae84651"/>
    <p:sldId xmlns:r="http://schemas.openxmlformats.org/officeDocument/2006/relationships" id="259" r:id="Rc0cc12f461a14e55"/>
    <p:sldId xmlns:r="http://schemas.openxmlformats.org/officeDocument/2006/relationships" id="260" r:id="Rf70be07696f84374"/>
    <p:sldId xmlns:r="http://schemas.openxmlformats.org/officeDocument/2006/relationships" id="261" r:id="R139a29f859b74480"/>
    <p:sldId xmlns:r="http://schemas.openxmlformats.org/officeDocument/2006/relationships" id="262" r:id="Rffa53005daf7465b"/>
    <p:sldId xmlns:r="http://schemas.openxmlformats.org/officeDocument/2006/relationships" id="263" r:id="R6e109baf82d9451c"/>
    <p:sldId xmlns:r="http://schemas.openxmlformats.org/officeDocument/2006/relationships" id="264" r:id="R5189b804f12a4a78"/>
    <p:sldId xmlns:r="http://schemas.openxmlformats.org/officeDocument/2006/relationships" id="265" r:id="R048714dc30e344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58f602626b4ca6" /><Relationship Type="http://schemas.openxmlformats.org/officeDocument/2006/relationships/slideMaster" Target="/ppt/slideMasters/slideMaster1.xml" Id="Re60db9e05e1f462b" /><Relationship Type="http://schemas.openxmlformats.org/officeDocument/2006/relationships/notesMaster" Target="/ppt/notesMasters/notesMaster1.xml" Id="R2ded50a73bca420b" /><Relationship Type="http://schemas.openxmlformats.org/officeDocument/2006/relationships/presProps" Target="/ppt/presProps.xml" Id="R954ce90dbd3c4317" /><Relationship Type="http://schemas.openxmlformats.org/officeDocument/2006/relationships/tableStyles" Target="/ppt/tableStyles.xml" Id="Rd98a3b720ef94718" /><Relationship Type="http://schemas.openxmlformats.org/officeDocument/2006/relationships/slide" Target="/ppt/slides/slide1.xml" Id="R26773211f10f4290" /><Relationship Type="http://schemas.openxmlformats.org/officeDocument/2006/relationships/slide" Target="/ppt/slides/slide2.xml" Id="Rd2f0aff16b4a4475" /><Relationship Type="http://schemas.openxmlformats.org/officeDocument/2006/relationships/slide" Target="/ppt/slides/slide3.xml" Id="Rbd697455aae84651" /><Relationship Type="http://schemas.openxmlformats.org/officeDocument/2006/relationships/slide" Target="/ppt/slides/slide4.xml" Id="Rc0cc12f461a14e55" /><Relationship Type="http://schemas.openxmlformats.org/officeDocument/2006/relationships/slide" Target="/ppt/slides/slide5.xml" Id="Rf70be07696f84374" /><Relationship Type="http://schemas.openxmlformats.org/officeDocument/2006/relationships/slide" Target="/ppt/slides/slide6.xml" Id="R139a29f859b74480" /><Relationship Type="http://schemas.openxmlformats.org/officeDocument/2006/relationships/slide" Target="/ppt/slides/slide7.xml" Id="Rffa53005daf7465b" /><Relationship Type="http://schemas.openxmlformats.org/officeDocument/2006/relationships/slide" Target="/ppt/slides/slide8.xml" Id="R6e109baf82d9451c" /><Relationship Type="http://schemas.openxmlformats.org/officeDocument/2006/relationships/slide" Target="/ppt/slides/slide9.xml" Id="R5189b804f12a4a78" /><Relationship Type="http://schemas.openxmlformats.org/officeDocument/2006/relationships/slide" Target="/ppt/slides/slide10.xml" Id="R048714dc30e344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3204706bdc41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e6e877ee224fd9" /><Relationship Type="http://schemas.openxmlformats.org/officeDocument/2006/relationships/notesMaster" Target="/ppt/notesMasters/notesMaster1.xml" Id="R9a879467d28449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0a828743994b60" /><Relationship Type="http://schemas.openxmlformats.org/officeDocument/2006/relationships/notesMaster" Target="/ppt/notesMasters/notesMaster1.xml" Id="R3c33aa9624ac42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7276224bdf47be" /><Relationship Type="http://schemas.openxmlformats.org/officeDocument/2006/relationships/notesMaster" Target="/ppt/notesMasters/notesMaster1.xml" Id="R5c027c9ba1824b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ae53313f5b4409" /><Relationship Type="http://schemas.openxmlformats.org/officeDocument/2006/relationships/notesMaster" Target="/ppt/notesMasters/notesMaster1.xml" Id="R84b47665f67049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cd02849a6346fc" /><Relationship Type="http://schemas.openxmlformats.org/officeDocument/2006/relationships/notesMaster" Target="/ppt/notesMasters/notesMaster1.xml" Id="R733189630d2245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4a5fe76fd74182" /><Relationship Type="http://schemas.openxmlformats.org/officeDocument/2006/relationships/notesMaster" Target="/ppt/notesMasters/notesMaster1.xml" Id="R2032e5998e9047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da8d5d7b8c4272" /><Relationship Type="http://schemas.openxmlformats.org/officeDocument/2006/relationships/notesMaster" Target="/ppt/notesMasters/notesMaster1.xml" Id="Rdc154f52f83c42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0e70c45de94953" /><Relationship Type="http://schemas.openxmlformats.org/officeDocument/2006/relationships/notesMaster" Target="/ppt/notesMasters/notesMaster1.xml" Id="R2bed831d1a0449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976ce5e1804c60" /><Relationship Type="http://schemas.openxmlformats.org/officeDocument/2006/relationships/notesMaster" Target="/ppt/notesMasters/notesMaster1.xml" Id="Re662919a69b140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f8259378ad48ee" /><Relationship Type="http://schemas.openxmlformats.org/officeDocument/2006/relationships/notesMaster" Target="/ppt/notesMasters/notesMaster1.xml" Id="R714cdc04f21544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本页开场约40秒：说明今天交付的是一个可复现、可审计的候选包，不是把所有研究目标都宣布完成。强调A为默认入口，B为历史入口，S3没有新增训练，实际评审尚未举行。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本页约40秒：说明真实系统是三种图节点，4/4/3是每类实体数。Task和Event是字段/记录。动作是16条边加NOOP，共17，不要把节点数、类型数和动作数混为一谈。五类型资产缺失，所以汇报不画成五类型。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40秒：把可见输入、执行真值和离线评估指标分开。能量不足和损毁的结果主要是执行链安全证据，不能说成策略学会了能量规划。通信和低置信度必须看证据到达时间与来源，不能偷看事件的真实发生时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本页约45秒：先报S1-R2的60条固定tape通过、future-input为0、采集和非法有效动作安全计数为0。然后说明低置信度修复的关键是0.55 payload和多源确认。S4 A的60/60等价是Shadow只读的行为证据，不是性能增益。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本页约45秒：说明测量口径和结果。CPU均值4.277103降到4.150364，GPU 5.673699降到5.489172；配对区间不跨0。最大耗时段是策略前向，但小图规模下CPU和GPU差异不能解释成算法优劣，也不能推出实时达标或会议里未复现的3到4倍结论。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本页约50秒：这是全场最重要的区分。A只是纯GPPO包着一个只读Shadow，context发布到私有存储但策略不消费，所以60/60等价是预期。B是历史EAWM-GPPO，635个决策中487个真的标记为adapter used，证明接口确实消费了context。但B不是新训练，也不是A的公平对照。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本页约40秒：逐项解释异常、stale前后、timeout和OOD都会回退到zero context。特别说明timeout是推理完成后的预算门，不会硬取消已经同步进行的调用。OOD分数来自合成特征平移，只能证明门禁触发，不能代表真实生产泛化。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40秒：主动讲负结果。完成的是工程交付链，不是五类型、公平增益或实时部署。尤其S3的skipped不等于训练通过，原因是剩余问题在输入资产与比较合同，不是已经证明需要新权重。energy/damage证据也不等于策略学会了相关规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本页约35秒：给出下一研究顺序。第一步是拿到缺失的五类型和会议版本；第二步固定控制周期、规模和公平比较；第三步才判断是否需要训练。T-06想象规划仍是可选研究，不是本次交付的一部分。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结束约35秒：说明A和B的独立复现结果，归档哈希已从服务器下载并解包核对，PPTX和PDF已渲染检查。最后明确交付状态和边界：材料已备，但用户彩排和实际评审尚未完成，9月13日冻结和9月15日汇报日期待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908b3ee67540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159ae560264b59" /><Relationship Type="http://schemas.openxmlformats.org/officeDocument/2006/relationships/slideLayout" Target="/ppt/slideLayouts/slideLayout1.xml" Id="R2433fb9629594e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33fb9629594e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7664068874e56" /><Relationship Type="http://schemas.openxmlformats.org/officeDocument/2006/relationships/notesSlide" Target="/ppt/notesSlides/notesSlide1.xml" Id="R813b9f271ef543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24cfd40e44a7b" /><Relationship Type="http://schemas.openxmlformats.org/officeDocument/2006/relationships/notesSlide" Target="/ppt/notesSlides/notesSlide2.xml" Id="Re4d6f24ad81740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ecf0e51454ec0" /><Relationship Type="http://schemas.openxmlformats.org/officeDocument/2006/relationships/notesSlide" Target="/ppt/notesSlides/notesSlide3.xml" Id="R595caf644dda42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c8f8fba3f4cfa" /><Relationship Type="http://schemas.openxmlformats.org/officeDocument/2006/relationships/notesSlide" Target="/ppt/notesSlides/notesSlide4.xml" Id="R1901cbd13eab41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f8f8a4e964e4a" /><Relationship Type="http://schemas.openxmlformats.org/officeDocument/2006/relationships/notesSlide" Target="/ppt/notesSlides/notesSlide5.xml" Id="Rdbb3ef71fbf846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a343f420b4477" /><Relationship Type="http://schemas.openxmlformats.org/officeDocument/2006/relationships/notesSlide" Target="/ppt/notesSlides/notesSlide6.xml" Id="R11ae084a084c41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96dd0133848b3" /><Relationship Type="http://schemas.openxmlformats.org/officeDocument/2006/relationships/notesSlide" Target="/ppt/notesSlides/notesSlide7.xml" Id="R0d419132b8114d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80fd3682e426d" /><Relationship Type="http://schemas.openxmlformats.org/officeDocument/2006/relationships/notesSlide" Target="/ppt/notesSlides/notesSlide8.xml" Id="Rf2dc4138df8d42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d0b1857234d36" /><Relationship Type="http://schemas.openxmlformats.org/officeDocument/2006/relationships/notesSlide" Target="/ppt/notesSlides/notesSlide9.xml" Id="R4986d3aadd834a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762bbba6d488e" /><Relationship Type="http://schemas.openxmlformats.org/officeDocument/2006/relationships/notesSlide" Target="/ppt/notesSlides/notesSlide10.xml" Id="Rd1416ec173094f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010979-16A8-409C-A468-F6B0CA6F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53179-D4B7-4AE1-B6BB-6B98475A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E55EF-0B28-48E3-B44C-6E673EDA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S5 交付冻结</a:t>
            </a:r>
          </a:p>
          <a:p xmlns:a="http://schemas.openxmlformats.org/drawingml/2006/main">
            <a:pPr>
              <a:defRPr sz="36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复现验收与汇报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B0B32-94CA-411C-96CD-D8B41245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候选交付包已准备  ·  证据边界已写明  ·  实际评审待举行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63B5D-CB1B-43DF-AC54-5A4492CC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4953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B476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01710-B5A3-4CEF-AF0C-BBF69BD9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752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默认入口 A：纯 GPPO + 可关闭的只读 Shadow</a:t>
            </a:r>
          </a:p>
          <a:p xmlns:a="http://schemas.openxmlformats.org/drawingml/2006/main">
            <a:pPr>
              <a:defRPr sz="157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历史入口 B：EAWM-GPPO adapter 消费复现（单列）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F3BAF-2240-4BC9-A853-C3A6F393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FFB86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8797B3-5DAD-4293-9BE1-E01EB146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768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S3 未训练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414A3-90E6-4253-9CD2-FD4E82D4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2925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E5A2"/>
          </a:solidFill>
          <a:ln xmlns:a="http://schemas.openxmlformats.org/drawingml/2006/main" w="0">
            <a:solidFill>
              <a:srgbClr val="7CE5A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33169-D30D-4EA0-8C40-359738F4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768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S4 已通过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321D7C-98E8-421E-9F17-28CE87FF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42925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8FF"/>
          </a:solidFill>
          <a:ln xmlns:a="http://schemas.openxmlformats.org/drawingml/2006/main" w="0">
            <a:solidFill>
              <a:srgbClr val="7EB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40C875-7A5A-4F38-AA1F-14710415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4768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S5 候选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96758-84F4-497C-AF19-6BAE28A1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772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2026-09-06</a:t>
            </a:r>
          </a:p>
        </p:txBody>
      </p:sp>
    </p:spTree>
    <p:extLst>
      <p:ext uri="{BB962C8B-B14F-4D97-AF65-F5344CB8AC3E}">
        <p14:creationId xmlns:p14="http://schemas.microsoft.com/office/powerpoint/2010/main" val="10750135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F3BCAC-3878-4B68-A2F5-71015DA8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296F6-4966-4C8E-9389-9249D345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S5  /  真实系统边界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DD810-541E-4EB3-89DD-9654EC97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8D8CA-A266-4FEF-BEFD-46C40636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84F2F-A466-405A-8324-796EDDCC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证据：S0/task-and-event-definitions.md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4A1783-9476-48A3-BC08-5AF85056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34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2026-09-06  |  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B3B1A-22D7-473A-8C0E-0C978423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先把系统说准确：三类型、17 个动作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7E5DA-ECE5-4DA6-8577-D98DBC36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当前可验证版本不是会议所称五类型版本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1369E-FEFD-42BA-BF40-6D3FCA3F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4857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21221-7C8B-4080-B786-D00D80E8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图节点类型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1DF22F-5212-4D29-8668-79A054CC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A60A78-4245-40EB-9CBB-AEAD4359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57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UAV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6C971F-E18D-4295-A904-CA19689F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95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4 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21AA8F-3150-4D0D-91A6-8149E3A2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FFB8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5DB6D-0829-46ED-A7C9-7DD149C5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19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Region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1C1AF-8ADE-4A8B-8216-3AB31C82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57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4 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500F11-C66E-4E3A-B235-6150FF0B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CFF"/>
          </a:solidFill>
          <a:ln xmlns:a="http://schemas.openxmlformats.org/drawingml/2006/main" w="0">
            <a:solidFill>
              <a:srgbClr val="B89C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C36B6B-C4C6-41F9-BA6F-EB5B54C7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81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0E61BF-3F2E-4983-911A-A03310A8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19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9C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9CFF"/>
                </a:solidFill>
                <a:latin typeface="Arial"/>
                <a:ea typeface="Arial"/>
                <a:cs typeface="Arial"/>
              </a:rPr>
              <a:t>3 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91A04E-2A3B-49AB-AC05-541C1D8B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4191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B32652-B1B8-404F-841C-C1319AC6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33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8C0922-F5AA-46B1-A938-B88606A2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Task = UAV 的 SEARCH / TRACK / IDLE 状态字段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BB2435-B40F-4CCE-BE43-050D0E86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38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BAF5CB-F7CD-4266-8232-99BAE9F2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7210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Event = 可重放事件记录，不是额外节点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F297CC-2FD1-418E-A63F-A58ED36C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95450"/>
            <a:ext cx="5715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22949C-B58F-4306-9799-4199878F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431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动作合同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CD6FEE-724F-4007-B451-607D8B89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4 UAV  ×  4 Region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163BE2-5813-4E26-B765-BBE9B007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FDD376-E50E-429A-AE65-2776B14B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NOOP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19E4DC-B398-4A36-98DF-13EA553D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05300"/>
            <a:ext cx="323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416079-60A3-4C51-90D4-3F1A8803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5529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16 条 UAV–Region 候选边 + 1 条等待动作 = 17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9EDB15-742C-4422-8D4F-94029873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054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五类型源码、模型、数据合同：当前未找到</a:t>
            </a:r>
          </a:p>
          <a:p xmlns:a="http://schemas.openxmlformats.org/drawingml/2006/main">
            <a:pPr>
              <a:defRPr sz="1275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本次不通过改名制造“五类型”</a:t>
            </a:r>
          </a:p>
        </p:txBody>
      </p:sp>
    </p:spTree>
    <p:extLst>
      <p:ext uri="{BB962C8B-B14F-4D97-AF65-F5344CB8AC3E}">
        <p14:creationId xmlns:p14="http://schemas.microsoft.com/office/powerpoint/2010/main" val="12946772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7BA351-C206-47E1-ACB6-F47C17F9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23353-4BC1-46D8-8BB3-77C8B81C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S5  /  扰动与真值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9150A-89AC-4A9F-BE6F-FEEB2E99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CF0ED-C206-4B88-839E-647A9376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B2DEE-7393-438F-AA73-B6FE30A1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证据：S0/task-and-event-definitions.md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540C1-45D5-43EE-83D8-2654F37D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34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2026-09-06  |  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74AC7-3DF4-4ADD-9918-AC569077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扰动不是一个层次：政策可见、执行真值、离线评估分开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2664B-2241-48AE-98AF-195CFD1C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策略只读决策时刻前已到达并确认的 belief /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2E58D-EAD5-4D33-BE1E-CE2690CD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760"/>
          </a:solidFill>
          <a:ln xmlns:a="http://schemas.openxmlformats.org/drawingml/2006/main" w="0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8A9D6D-D541-46AB-B4BA-19BB7A80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3F035-7561-4567-A5E4-A857D450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760"/>
          </a:solidFill>
          <a:ln xmlns:a="http://schemas.openxmlformats.org/drawingml/2006/main" w="0">
            <a:solidFill>
              <a:srgbClr val="2B476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1740D-25A2-49C4-A012-D430B8FB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90700"/>
            <a:ext cx="329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政策可见输入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2D2BC-4E13-41B3-A18A-CA46DBF9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85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760"/>
          </a:solidFill>
          <a:ln xmlns:a="http://schemas.openxmlformats.org/drawingml/2006/main" w="0">
            <a:solidFill>
              <a:srgbClr val="2B476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6C6A5-B3D5-4117-B855-C9D2BE8B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90700"/>
            <a:ext cx="462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执行 / 评估边界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114726-14E8-4D6C-8361-9A49421B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1095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0">
            <a:solidFill>
              <a:srgbClr val="172B4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E98D8-1F0C-4930-89A6-1FE70AD8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955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正常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0AC86-23C8-4F3F-8C76-82223AAB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860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当前图 + 已确认事件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0D2B91-708E-4076-A6EC-3484C385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860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环境执行与 episode 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B7D04B-F2CE-4CB9-9AFD-6F5347CB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1095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0">
            <a:solidFill>
              <a:srgbClr val="13223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A980A7-6B8A-48DA-9482-17F4E5A2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紧急 / 新事件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5C0CF6-92D5-4A5C-8380-EB1746B3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956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到达后才进入 belief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B64ED0-5386-4908-A73B-2271B13C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956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不是通用 Task / deadline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778840-068B-42A6-A39C-9BE45C00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1095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0">
            <a:solidFill>
              <a:srgbClr val="172B4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45FC0F-5030-457E-8B18-578FF58A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节点损毁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50BC27-9C0D-4A4B-B848-642D0CE1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052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确认后 mask 排除 UAV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D93DF5-B963-4006-823F-7EE26B06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052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检测/确认链拥有真值权威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A4FB3A-E0D2-4CCB-A1AE-AD06ECDA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1095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0">
            <a:solidFill>
              <a:srgbClr val="13223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26B06A-6A83-45BA-A2C8-ADD875F3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能量不足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87D76B-777F-4447-96D0-C332B01A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114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不是策略输入合同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412E41-A820-4F54-B59E-D525F8F5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148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执行拒绝 / NOOP / 回退演示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6BD283-31A6-4F5F-8EF5-EA4AF69E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1095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0">
            <a:solidFill>
              <a:srgbClr val="172B4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65F950-430E-4BF7-B367-9602AF88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通信 / 低置信度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9EE2CF-512B-43F7-BAF4-630E7E2B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244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证据时间与来源可见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D79A2B-70DF-4765-A6BF-54A4BBD8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7244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stale、confirmation、恢复语义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208EDA-012B-4371-B93F-093869F8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095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B"/>
          </a:solidFill>
          <a:ln xmlns:a="http://schemas.openxmlformats.org/drawingml/2006/main" w="9525">
            <a:solidFill>
              <a:srgbClr val="FF7E79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0DCC09-CE01-42FA-8295-D876ABE6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3402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边界：世界模型预测 latent，不覆盖真实 belief / action mask / version，也不直接发 actuator action。</a:t>
            </a:r>
          </a:p>
        </p:txBody>
      </p:sp>
    </p:spTree>
    <p:extLst>
      <p:ext uri="{BB962C8B-B14F-4D97-AF65-F5344CB8AC3E}">
        <p14:creationId xmlns:p14="http://schemas.microsoft.com/office/powerpoint/2010/main" val="13621088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E2B7F2-BEC3-44EB-B527-BB241BBA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3FD4E-0C13-482F-B422-952D3857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S5  /  功能与安全证据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E9C05-007D-4AD9-A257-5465D917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765D2-7573-4E10-86C6-AD1A1256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0EF44-2501-4921-A5C1-B61EE737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证据：S1-R2/final-report.md + S4/shadow-equivalence.json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5E9A2-929B-4F46-8DC5-B4DF0060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34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2026-09-06  |  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FEBF1-0A6C-497C-B7B1-412EC90B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功能通过，安全边界也通过：但只对冻结合同负责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6EB960-2B35-40F8-9BA2-0E7F728D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S1-R2 fixed tapes 与 S4 Shadow side-car 的证据分列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A315A-AEED-4C63-83BD-B4C86BDC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2381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E800E-4955-46B1-A093-0632BCDD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60 / 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69370-BA46-4C70-9212-CB38990E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S1-R2 fixed tapes</a:t>
            </a:r>
          </a:p>
          <a:p xmlns:a="http://schemas.openxmlformats.org/drawingml/2006/main">
            <a:pPr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episode 完成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821582-3CA3-4BB8-AE96-1CAC41BB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66900"/>
            <a:ext cx="2381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3268E4-8DCD-4954-8687-D794CEC4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D3FAE8-0B1F-41D6-8C96-FED0F5AE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241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future-input</a:t>
            </a:r>
          </a:p>
          <a:p xmlns:a="http://schemas.openxmlformats.org/drawingml/2006/main">
            <a:pPr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violation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3A0F26-4677-4CB9-A569-80177195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66900"/>
            <a:ext cx="2381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85F30-9CB8-4B0F-9BBD-A722CCB3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E9B744-7797-4607-A47D-F436A96D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Shadow 写入 /</a:t>
            </a:r>
          </a:p>
          <a:p xmlns:a="http://schemas.openxmlformats.org/drawingml/2006/main">
            <a:pPr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动作提交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76D789-0B68-4BAF-891F-144F1D68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66900"/>
            <a:ext cx="2381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D3F8B2-F47F-4107-BF3E-20A7BDAA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0.55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704AD4-3D57-40FF-8FC9-49A830E8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241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弱证据 confidence</a:t>
            </a:r>
          </a:p>
          <a:p xmlns:a="http://schemas.openxmlformats.org/drawingml/2006/main">
            <a:pPr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单源保持 SUSPECTED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A4DFD8-D58C-4964-AE54-9A283966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10953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C4A4E1-C20C-40ED-97D9-843BA8C5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因果确认修复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AC7EAA-7DE5-460D-851F-C0379F08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00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CAA532-2A5C-414F-A63E-A15E2585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33900"/>
            <a:ext cx="459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payload 0.55 被实际消费；单源弱 Region vacancy 不确认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5233DA-A27A-4A6B-B365-50AEED23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A7EC91-24F8-49D5-A22D-18F7CE81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76800"/>
            <a:ext cx="573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两源独立 evidence 到达后才 CONFIRMED；未来事件在到达前不可见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CC22F1-04C7-498C-B27D-710E2B27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67200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S4 A：OFF / ON 全量 60/60 等价；Shadow 是 side-car，context published 但 pure policy 不消费。</a:t>
            </a:r>
          </a:p>
        </p:txBody>
      </p:sp>
    </p:spTree>
    <p:extLst>
      <p:ext uri="{BB962C8B-B14F-4D97-AF65-F5344CB8AC3E}">
        <p14:creationId xmlns:p14="http://schemas.microsoft.com/office/powerpoint/2010/main" val="17108851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641671-9831-4C02-A36A-9D8A44F7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CE4F3-AD30-4F10-9108-AE91A74D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S5  /  延迟证据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7FE0D-94F3-4D8D-AA60-980AD380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4515A-6E5B-4AEE-B738-515B5253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927E5-0C84-4F74-91E3-50957C35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证据：S2/comparison.json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AAA4C-E46E-47F0-80D7-266217C8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34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2026-09-06  |  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12A7A-C50D-4895-A094-C61A24A2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低风险优化带来小幅、可重复的端到端改善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B7EDC-6310-4230-93B1-418C86E0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同 checkpoint、6 类×10 tape、CPU / cuda:0、5 次交错重复；不是实时承诺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0C2F5-31C2-4A7B-A8B8-BBA009EC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68580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C83310-BF05-4519-AE95-122763F5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端到端决策墙钟均值（ms）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43B29-CCBC-4E1B-9094-706D76C5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CPU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0D2D7-2BE0-46AA-8427-D7F61E81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813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760"/>
          </a:solidFill>
          <a:ln xmlns:a="http://schemas.openxmlformats.org/drawingml/2006/main" w="0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54953-E296-4ADE-98BF-50922525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81300"/>
            <a:ext cx="256264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A75"/>
          </a:solidFill>
          <a:ln xmlns:a="http://schemas.openxmlformats.org/drawingml/2006/main" w="0">
            <a:solidFill>
              <a:srgbClr val="355A7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702DBE-BB6A-426D-A152-B4EAED02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003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4.277103 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09FC5-E605-440B-84EF-B0BB4070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90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4.150364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C4F080-F5F3-4C68-8F5C-124AE766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194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paired -2.927%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189CA9-A81C-4633-981B-7D94DD8B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GPU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CFE398-B000-48F6-A75A-7CAE2244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481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760"/>
          </a:solidFill>
          <a:ln xmlns:a="http://schemas.openxmlformats.org/drawingml/2006/main" w="0">
            <a:solidFill>
              <a:srgbClr val="2B476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7D3F41-68F0-4D88-BB1A-DCBD52F4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48100"/>
            <a:ext cx="339941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A75"/>
          </a:solidFill>
          <a:ln xmlns:a="http://schemas.openxmlformats.org/drawingml/2006/main" w="0">
            <a:solidFill>
              <a:srgbClr val="355A7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251C94-73DC-46C0-B03C-4272A442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5.673699 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A7099B-2C05-4413-8E53-FE12D9BF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576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5.489172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CE1164-39BB-4418-A1C1-C5CA1EF0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862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paired -3.290%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C61D16-2209-4DDC-9449-0F5621DF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优化：torch.inference_mode()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6B2584-F2D0-4E01-83A6-6B5D6136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配对 tape-group CI：CPU [-0.135745, -0.114669]ms</a:t>
            </a:r>
          </a:p>
          <a:p xmlns:a="http://schemas.openxmlformats.org/drawingml/2006/main">
            <a:pPr>
              <a:defRPr sz="97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GPU [-0.203170, -0.170122]ms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870A96-B5FD-4441-A041-363C0C22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37147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30BB2B-2112-4284-B30C-44370FC3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拆分观察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1D885A-4F80-4539-8548-17A510C8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336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最大段：policy forward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B345D6-ABCC-48EC-8C3E-61C2D22A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CPU 2.197379ms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5054E1-E11F-4C01-A974-7F5EA5AA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956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最大段：policy forward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8955D8-57B8-4359-B223-0411D954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86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GPU 3.075608ms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3D4318-F3BC-417C-8FDA-7E15D735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AC1975-A6A2-43E0-9407-0D661429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719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graph 构建约 0.25ms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D19287-01B0-4F40-B5D0-81BD452D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62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92ABF1-888B-4611-A63F-2C4A2ED5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958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submit / 执行约 0.81ms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459A90-6AA7-425E-BCC0-AE53045E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86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285490-C69B-4648-9E06-0141293E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196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7E79"/>
                </a:solidFill>
                <a:latin typeface="Arial"/>
                <a:ea typeface="Arial"/>
                <a:cs typeface="Arial"/>
              </a:rPr>
              <a:t>未验证普通 PPO / 五类型 / 5-node</a:t>
            </a:r>
          </a:p>
        </p:txBody>
      </p:sp>
    </p:spTree>
    <p:extLst>
      <p:ext uri="{BB962C8B-B14F-4D97-AF65-F5344CB8AC3E}">
        <p14:creationId xmlns:p14="http://schemas.microsoft.com/office/powerpoint/2010/main" val="1533605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87503A-7B75-4BA5-8B70-85AF30A4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1F91B-AB73-485D-95B9-3CB69982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S5  /  两条世界模型路径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6B864-9F45-40A4-B0B5-6430E81B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D9CFC-7788-4166-AEB6-21E1BA35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EF583-BF2B-4AEA-8FCD-A60A961B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证据：S4/final-report.md + adapter-consumption-report.md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83495-ADCB-451E-A497-9BE746C4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34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2026-09-06  |  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600AC-27C1-422F-B0B4-3A937A22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A 和 B 必须分开：一个证明只读，一个证明历史消费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55CDD-9F6A-4C87-A856-D2D5B2EF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同一个“世界模型接入”标签下，策略可见性完全不同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1546E8-475A-40F1-A219-65B11618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5143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19050">
            <a:solidFill>
              <a:srgbClr val="4DD3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B05F2-AA2B-4309-8A4B-5986E0C5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32C1A-5C4B-4C8A-83C2-8AA1A35F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4312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  默认交付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5D4C7B-DCE9-4A94-996E-069C5B09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纯 GPPO + read-only Shadow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108FE-12FB-443A-894D-2BA13859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DA56AD-09D8-4482-81EC-F141FF44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432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真实图 /</a:t>
            </a:r>
          </a:p>
          <a:p xmlns:a="http://schemas.openxmlformats.org/drawingml/2006/main">
            <a:pPr>
              <a:defRPr sz="13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策略动作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2093F5-896F-460E-AE87-FFF024B7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14725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4DD3C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EC5ED0-1B62-42EF-A664-0F9BEAC1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1945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285468-DA43-4D08-A9F5-97A486F7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432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Shadow</a:t>
            </a:r>
          </a:p>
          <a:p xmlns:a="http://schemas.openxmlformats.org/drawingml/2006/main">
            <a:pPr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私有上下文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077379-25C0-4028-ACB3-8F3A3B77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60/60 等价  ·  0 写入  ·  context served_valid=0</a:t>
            </a:r>
          </a:p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zero-context parity 是默认安全性质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D84F3-4A67-4306-BFDE-BE3E31E4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5143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19050">
            <a:solidFill>
              <a:srgbClr val="FFB86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A18EED-7A49-41DE-9F73-66FF2935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FFB86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08B8AC-BC7B-49ED-A0C3-81DE809E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4312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B  历史复现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6806B5-084B-4475-9A52-7DE94489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908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EAWM-GPPO adapter 真实消费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62EE11-35C8-4D65-9523-114A79EF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194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6BC375-20E7-4A4A-B154-DCA6F1AC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432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图 + action</a:t>
            </a:r>
          </a:p>
          <a:p xmlns:a="http://schemas.openxmlformats.org/drawingml/2006/main">
            <a:pPr>
              <a:defRPr sz="13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+ WM latent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5D0247-1BB7-4CC7-AAFE-3DC530F1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14725"/>
            <a:ext cx="666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B86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A09FCD-EFC4-4DA7-80A8-985D17CD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19450"/>
            <a:ext cx="2133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48B10E-3FD8-44F5-9D9D-9E3294DD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43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adapter →</a:t>
            </a:r>
          </a:p>
          <a:p xmlns:a="http://schemas.openxmlformats.org/drawingml/2006/main">
            <a:pPr>
              <a:defRPr sz="13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下一次决策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1E4633-D6DC-4BA5-849F-6D856293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672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635 decisions  ·  487 adapter-used</a:t>
            </a:r>
          </a:p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577 valid  ·  58 fallback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39ACDF-81E1-4C17-B1DF-A475299B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531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B 不替代 A，不等于 S3 pure GPPO，不构成公平性能增益。</a:t>
            </a:r>
          </a:p>
        </p:txBody>
      </p:sp>
    </p:spTree>
    <p:extLst>
      <p:ext uri="{BB962C8B-B14F-4D97-AF65-F5344CB8AC3E}">
        <p14:creationId xmlns:p14="http://schemas.microsoft.com/office/powerpoint/2010/main" val="7166293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DF46AC-B960-43EA-BE93-23D06C77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32558-975F-4A7A-9FE4-03C12A7E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S5  /  回退与故障边界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8F92C-CF4D-4CFA-8EDC-2F7686C5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A3299-0214-4234-8E36-29DC702C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6B303-E645-4F73-AF7D-28E83419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证据：S4/fault-injection-results.json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638F1-E83A-4FA6-86B5-65D82F9A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34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2026-09-06  |  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45602-6B13-4ABB-A2F3-73752628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失败时回到 zero context：门禁可复现，保证不被过度解读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CA4EC-0E9B-4D50-895C-0FA6A531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timeout 是 post-inference gate；OOD 是 synthetic feature shift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0F4FD-F736-46B3-809D-DE63CA20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1095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64F31-C92E-424E-82CF-427105EA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79"/>
          </a:solidFill>
          <a:ln xmlns:a="http://schemas.openxmlformats.org/drawingml/2006/main" w="0">
            <a:solidFill>
              <a:srgbClr val="FF7E7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FD6CA-326D-437B-B12C-9B49C3EF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19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exception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41B5F-D297-452F-ACB3-D3AE569D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19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zero latent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3A9E1D-3984-403F-B6C5-D2D89CF0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异常后 fail-closed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BEA389-6705-478F-BCCF-4A2EB335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0800"/>
            <a:ext cx="1095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E67914-2546-4DA9-853B-07865D13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FFB86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6BDBF8-1291-4B9D-8B76-8CF6CA9D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stale-before / after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9A3585-522E-4B5B-B601-1FF48FC2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62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zero latent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58ADD6-52E6-4EE5-AC27-ACD0EECC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2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版本不匹配；after 还会 reset history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DA79F2-2173-4DFF-8AAA-C86619BA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1095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AF8EDD-94CA-480E-901F-43124AB3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FFB86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AC8AD0-E4FC-4F10-9B22-9C18445E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timeout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EBDD6C-4A76-4050-A0A9-98250391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05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zero latent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01E30D-7B61-4A53-9E34-F02A33FB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同步调用完成后的 budget gate，不是硬取消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3F9529-4A7D-4A2E-8BA5-88472E94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1095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D098E7-5536-447E-84F8-6C668F3E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CFF"/>
          </a:solidFill>
          <a:ln xmlns:a="http://schemas.openxmlformats.org/drawingml/2006/main" w="0">
            <a:solidFill>
              <a:srgbClr val="B89C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9BEEB4-8C5F-4D2B-868C-15DF2E40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synthetic OOD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48F96F-3D88-46C0-B36C-8ACEDE31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48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9C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9CFF"/>
                </a:solidFill>
                <a:latin typeface="Arial"/>
                <a:ea typeface="Arial"/>
                <a:cs typeface="Arial"/>
              </a:rPr>
              <a:t>zero latent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9D9860-FC35-494C-8492-9C07F50D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4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score 269.0106024867358；特征整体 +3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AFEE88-2C46-4293-87D9-D4DC7FB5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B"/>
          </a:solidFill>
          <a:ln xmlns:a="http://schemas.openxmlformats.org/drawingml/2006/main" w="9525">
            <a:solidFill>
              <a:srgbClr val="FF7E79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C1EE22-6456-4141-A551-418FE351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限制：合成 OOD ≠ 真实未见任务泛化；post-call timeout ≠ 有界返回；门禁证据 ≠ 飞控认证。</a:t>
            </a:r>
          </a:p>
        </p:txBody>
      </p:sp>
    </p:spTree>
    <p:extLst>
      <p:ext uri="{BB962C8B-B14F-4D97-AF65-F5344CB8AC3E}">
        <p14:creationId xmlns:p14="http://schemas.microsoft.com/office/powerpoint/2010/main" val="17619163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2F47F7-6FF4-45FC-BDC9-E6DB3AC0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3016B-4BE8-46C6-B54D-1590BBA2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S5  /  负结果与未完成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FAA1B-0405-4832-A8EE-96B9D3DB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90721-59F4-4052-BDFA-7C302997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983F0-9381-4868-A3F4-52E027E5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证据：S3/decision.json + S0/gaps.md + T-05 final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F3139-9BD7-421F-BF3A-AE5F28E4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34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2026-09-06  |  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7FAEF-BD76-4F5B-BAF8-00107CDA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该交付也冻结了负结果：不把缺口包装成完成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AAD20-54DD-4E26-902D-90E04D30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这张页留在主汇报中，而不是藏在附录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F247D-F9B5-4E41-9AC8-47ADB496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51435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19050">
            <a:solidFill>
              <a:srgbClr val="7CE5A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AAA09-F831-48E6-976E-CD2DB196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E5A2"/>
          </a:solidFill>
          <a:ln xmlns:a="http://schemas.openxmlformats.org/drawingml/2006/main" w="0">
            <a:solidFill>
              <a:srgbClr val="7CE5A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89529-8604-4089-83D5-271E1354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431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已完成 / 可交付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7ABF5-5065-4DCD-B114-44228733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52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D0856-8917-4025-AFC3-F9B04A2A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S1-R2 因果时序与低置信度修复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8FCB9-891D-4611-8FA6-96C0C7F7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512234-C068-49B0-A499-D891CE57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S2 inference_mode 低风险优化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EAC54D-2D07-4A35-8CCA-8589101D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29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7CF650-6C82-417D-960C-F8CFC792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A 只读 Shadow + fail-closed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B0CE91-6750-4630-9C15-A0FB13C0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67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826B88-5102-4712-99D2-3DC03CA5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B 历史 adapter 入口复现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6A11C6-B108-4D79-A04B-B7DEF974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05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86988A-A9DC-4084-957D-41396BFB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代码 / 模型 / 归档 / 汇报材料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F811B3-2C28-40CC-B225-D0911AD7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51435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19050">
            <a:solidFill>
              <a:srgbClr val="FF7E7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B2E670-6D30-4206-A414-2B64E76A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79"/>
          </a:solidFill>
          <a:ln xmlns:a="http://schemas.openxmlformats.org/drawingml/2006/main" w="0">
            <a:solidFill>
              <a:srgbClr val="FF7E7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8D1DFD-624A-4EA6-9AF5-3EE16121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431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未完成 / 不声明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ACB901-5046-48FE-90DC-6E069608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52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19A6A7-1F03-4ED6-9118-39564B99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8605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会议五类型源码、模型、数据合同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DD9A81-1DA7-4A2E-B8D6-14A67D1D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90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8CEBA2-4235-4A0B-9134-66D419DE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2420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GPPO-History / 普通 PPO 公平对照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732683-157D-4918-89CC-ED45C552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29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7855D5-A829-4908-B22C-FD370F8B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6235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稳定世界模型策略增益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3EDE3C-F3DC-4654-A6D6-1C241A5E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67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94F59A-6500-4D53-93D4-1C9E5862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真实控制周期、实时达标、生产 OOD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E111B3-FA14-4B28-9D50-6B8AB8FD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05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8604F9-C08E-4325-8E81-E45A067F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3865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返航、换电/充电等显式产品能力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FBC828-7FF5-4AF5-AA73-D7EFCCBE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5310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S3 skipped = 当前交付无需训练，不是训练通过。</a:t>
            </a:r>
          </a:p>
        </p:txBody>
      </p:sp>
    </p:spTree>
    <p:extLst>
      <p:ext uri="{BB962C8B-B14F-4D97-AF65-F5344CB8AC3E}">
        <p14:creationId xmlns:p14="http://schemas.microsoft.com/office/powerpoint/2010/main" val="11248463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420115-D67D-4719-8170-DE99669B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A9FAC-C27B-4C41-B688-50685235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S5  /  下一研究优先级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211AB-3A1E-49C7-8E63-8F40BD76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76C32-D8ED-4E1C-81DA-C7DADA70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A795C-1B51-45F2-B3A8-CE00A336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证据：claims-and-evidence.md + limitations.md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30DF7-9663-48AD-A6F9-B51B9559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34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2026-09-06  |  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6A50F-C4AE-4D51-AED5-AF8AF68A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下一步先补可比较的输入，再讨论增益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98848-2991-4159-9C5D-2D3666EF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所有下一项都标记为“未实现”，不把计划当结果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1C8B0-8625-47A6-96A2-809925AC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19050">
            <a:solidFill>
              <a:srgbClr val="4DD3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479D1-1D1B-4DD8-8889-1D276BBC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5AC23-0DCE-40FA-9AB6-D62CD1BE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拿到会议版本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097AC-8108-4F54-A0EC-781F22A1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C052C8-879C-475C-90B3-4FFA4427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266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五类型源码 / checkpoint / 数据合同 / GPO 来源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9F888D-33DE-4740-BDEC-FF6106B0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19050">
            <a:solidFill>
              <a:srgbClr val="FFB8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C540E4-02DF-43CA-BA44-7B944984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4790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C5B82E-B063-440D-85E2-B23B8E38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95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固定公平协议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A8582B-DEB7-4878-8935-F52189DE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9090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6A1A4B-C832-41F8-99F1-0C6E6265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38550"/>
            <a:ext cx="266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规模、控制周期、PPO / GPPO-History、held-out 与多 seed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BBBF5A-676F-4E7E-B460-2843BDDF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19050">
            <a:solidFill>
              <a:srgbClr val="B89C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633952-6705-4760-87C2-A3223AE7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4790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89C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89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9375CF-95B4-4C8A-8C83-D959F1E1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再问是否训练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B2B3F9-63A2-4B50-8172-C55D4CBA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9090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6E26BF-0BC2-48B0-B34D-9807D172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38550"/>
            <a:ext cx="266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真实 return + 安全指标共同改善，才允许策略增益声明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00430C-E524-424D-98A6-2715E7F7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1F"/>
          </a:solidFill>
          <a:ln xmlns:a="http://schemas.openxmlformats.org/drawingml/2006/main" w="9525">
            <a:solidFill>
              <a:srgbClr val="7CE5A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736FA3-D912-45CD-B01B-44745777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T-06 imagined rollout：可选、未开始；失败时保留 T-05，不影响本次 A/B 交付。</a:t>
            </a:r>
          </a:p>
        </p:txBody>
      </p:sp>
    </p:spTree>
    <p:extLst>
      <p:ext uri="{BB962C8B-B14F-4D97-AF65-F5344CB8AC3E}">
        <p14:creationId xmlns:p14="http://schemas.microsoft.com/office/powerpoint/2010/main" val="600436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94955D-F03E-4957-820E-C84D8BD0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DE58E-C447-44FA-B5EE-2B62AA74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S5  /  复现与 GitHub 归档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9437C-4666-454E-B267-17046D43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7DD72-4DC0-4C58-AE7F-7BE44857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1D766-D42E-4845-B78A-BFC2EE66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证据：S5/reproduction-results.json + server-evidence.json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16D30-B6E2-4DEB-B03E-9560DB64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34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2026-09-06  |  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6A9B9-9B7C-4029-9D14-E9C3966C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复现通过，归档可核对；实际评审仍待用户完成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A2340-4205-4C1B-A4FE-25411D64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交付候选包在新服务器目录执行，不依赖 S4 输出目录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EC6A9-8DED-482B-B307-0B2487F9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2667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19050">
            <a:solidFill>
              <a:srgbClr val="4DD3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54620-993F-4258-8C1C-471D5706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DF623-0C8A-4DA9-B069-C1161B2D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5/5</a:t>
            </a:r>
          </a:p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OFF / ON 配对相等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8737F0-E224-4F38-B166-5E184A54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退出码 0</a:t>
            </a:r>
          </a:p>
          <a:p xmlns:a="http://schemas.openxmlformats.org/drawingml/2006/main">
            <a:pPr>
              <a:defRPr sz="127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策略 / WM 状态未变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81BA7-083E-4E5A-AA34-56CC456C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47850"/>
            <a:ext cx="2667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19050">
            <a:solidFill>
              <a:srgbClr val="FFB86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02C248-9568-4808-A6D5-65EC6DAF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955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00F674-ED4E-4A8D-A098-D1DD2B6A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241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100 tapes</a:t>
            </a:r>
          </a:p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635 decisions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02BF0E-241B-4286-A044-8B0E99B9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76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487 used  ·  577 valid</a:t>
            </a:r>
          </a:p>
          <a:p xmlns:a="http://schemas.openxmlformats.org/drawingml/2006/main">
            <a:pPr>
              <a:defRPr sz="127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58 fallback  ·  safety 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DDAEF6-3E74-4DCB-AC20-89C5F02A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47850"/>
            <a:ext cx="4857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9142A1-B485-4047-88E6-2E8E84E3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95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服务器归档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C48BC-F17D-4AEA-8CE3-F7D8A7AA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146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10,357,488 bytes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8EFBDF-B0D7-48EA-AD55-AF73583F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28950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SHA-256</a:t>
            </a:r>
          </a:p>
          <a:p xmlns:a="http://schemas.openxmlformats.org/drawingml/2006/main">
            <a:pPr>
              <a:defRPr sz="112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886c8ff400ed87ca5b1dac5c141b22f63a6381793ce253ef2568d0ffcf88bb9f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A55238-333F-44B2-B5CE-CA401444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67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服务器 → 本地 → Release → CDN 独立下载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AA37CF-ED90-47B3-A3F0-5943F1D2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1095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B"/>
          </a:solidFill>
          <a:ln xmlns:a="http://schemas.openxmlformats.org/drawingml/2006/main" w="9525">
            <a:solidFill>
              <a:srgbClr val="FF7E7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FE2F1A-CDED-4AEC-A8D3-80B213DB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交付状态：ready / verified / render-verified / archive-verified</a:t>
            </a:r>
          </a:p>
          <a:p xmlns:a="http://schemas.openxmlformats.org/drawingml/2006/main">
            <a:pPr>
              <a:defRPr sz="13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彩排材料已备；实际评审 not_held；9/13 冻结、9/15 汇报均 tentative</a:t>
            </a:r>
          </a:p>
        </p:txBody>
      </p:sp>
    </p:spTree>
    <p:extLst>
      <p:ext uri="{BB962C8B-B14F-4D97-AF65-F5344CB8AC3E}">
        <p14:creationId xmlns:p14="http://schemas.microsoft.com/office/powerpoint/2010/main" val="20011405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2026-09-06T09:33:07.7090000Z</dcterms:created>
  <dcterms:modified xsi:type="dcterms:W3CDTF">2026-09-06T09:33:07.7090000Z</dcterms:modified>
</coreProperties>
</file>